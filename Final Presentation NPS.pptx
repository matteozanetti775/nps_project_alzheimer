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59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EA71F-5D27-47DC-A8C8-BD96DCCB01A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2CF9-DC64-4AEA-8290-3B79AD6D8C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952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A200C8-BD3E-6DC3-D724-BE6F2C399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E629EA-BFE7-EA0C-CE2C-1AA49B4A0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18B2CA-CBB6-DED7-3AFB-F6A1FFD3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5D4FD4-DF39-9AC8-49D0-8ACAF6BA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F8872A-EA2D-D849-855D-00EFCACE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65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34660-E71E-BFF7-1015-E18688CF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E394CF-B9C4-A3DF-DE85-46023572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A5D1FE-E165-60F6-9EFB-CCCA0AAB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191DC5-82CB-BF0F-C862-97D8FBA00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4C043F-D064-3A46-C5A9-2BBD5720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061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5C179E-C69E-6B8B-8EA3-DE963165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4CF6E7-32C8-967C-E0D9-A09F2BBF5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214043-5199-37F6-17AC-58CCA023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0A9063F-323E-79D5-DCE5-5E1C226E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E359F8-CECA-2113-BEBA-5BF85CD8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019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64ACA2-DDD0-D906-4223-4B7C41BF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8F2DE6-48BB-F485-9FF9-6B54B7326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98E4A0B-C7B9-5F00-AE0F-F52C3ACFC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CB40DE-7EB9-6AEF-9833-3A51924C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C5F007-DAE3-A3D4-D24F-BF076896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99D390-103F-D651-354C-0A01DE13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579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266359-6C14-C50F-8E24-0F2A4908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29D0F6-D039-EEFA-EFDF-8C4921DD9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412555-0066-EBB7-6035-F3ED0F32F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2E09650-8615-2E8A-3A29-EF6564E9C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350E186-95CF-565A-EF7C-304F0BFCF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D938C4-2F88-7F74-26AC-589EE0CC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224D4C5-E239-C484-064D-C724D44F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39E930C-C3DC-E964-E553-F856C368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672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A2DD98-19D2-17A6-4DAC-EBF9E12D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EBC6E27-8265-9755-2272-E3653EC2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BDEBC67-4A2E-BAE8-915D-57AA5CD3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44BAD97-2079-806C-74FA-2B359DC5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74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47293ED-9A9B-59D9-4E5B-4C5612C1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CCCA28-C1B6-6CDB-EAA8-A8B84097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01755F-B6FC-244F-F739-CE92EEC6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57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2AF76-7CF1-3AB9-2FA9-286F2BFF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660B0B-0045-F1F3-81A9-A536F18F5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E169A2-0922-DBDF-BD59-BE06326A1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05A41A-D4FC-EFE5-7694-3DD10666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E15297-5E91-9800-4C38-4318AE0C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E36F9F-410E-C3C8-FB6E-A3CD7E92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684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089CFD-801F-8839-5686-BE464811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E4DB2FA-7C00-AE45-7813-C5C672CE2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8BEBA6C-3D4F-96F0-4C37-87D5EA5F7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DAC6AC-BC3D-C261-2F58-0A910BA5F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BA63E5-4629-264F-7508-566AC2CE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F99CD79-A2FC-95BC-55D0-65658EDC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165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0A8A43-55ED-40D4-E401-31358344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0B29B53-AF8B-E215-7A17-A11765463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AF2903-9716-E5D7-B52F-B2D6E2C8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BDD70A-FDDA-4AB3-5F12-22969E58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E5B306-47D2-6E36-E69F-D2756042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56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AFCFE44-79BD-5E3C-26AE-B7C0C3D25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D0F9C87-0092-98F4-BB6C-312202C3E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1E6B3F-00A1-0157-6E8D-85DDA195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888D2D-EA08-A531-0B08-6AB94701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7EF3E5-3705-4926-19F7-222390EB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41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39C2803-6A67-DA0E-6141-6F2328D5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719A38-8D75-9BF1-9681-E2C2099A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473E9F-1732-3537-F29F-AE61372DF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ED358-1714-4573-8D2B-21E48A2F8639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305262-2BD2-EA77-EF5B-81BD573B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72972E-93F6-17DC-04FB-D5523FDDE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323AA-DACB-49A8-8AF3-E6B944314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331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7C8612-5A7A-2236-BB9F-B9E0632B0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22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Identifying Alzheimer’s Disease through brain volumes longitudinal data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037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5FBBBB-B4E8-FE33-9DCD-17551D7E6DFA}"/>
              </a:ext>
            </a:extLst>
          </p:cNvPr>
          <p:cNvSpPr txBox="1"/>
          <p:nvPr/>
        </p:nvSpPr>
        <p:spPr>
          <a:xfrm>
            <a:off x="0" y="47194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 err="1">
                <a:latin typeface="+mj-lt"/>
              </a:rPr>
              <a:t>Our</a:t>
            </a:r>
            <a:r>
              <a:rPr lang="it-IT" sz="4400" b="1" dirty="0">
                <a:latin typeface="+mj-lt"/>
              </a:rPr>
              <a:t> </a:t>
            </a:r>
            <a:r>
              <a:rPr lang="it-IT" sz="4400" b="1" dirty="0" err="1">
                <a:latin typeface="+mj-lt"/>
              </a:rPr>
              <a:t>research</a:t>
            </a:r>
            <a:r>
              <a:rPr lang="it-IT" sz="4400" b="1" dirty="0">
                <a:latin typeface="+mj-lt"/>
              </a:rPr>
              <a:t> </a:t>
            </a:r>
            <a:r>
              <a:rPr lang="it-IT" sz="4400" b="1" dirty="0" err="1">
                <a:latin typeface="+mj-lt"/>
              </a:rPr>
              <a:t>question</a:t>
            </a:r>
            <a:endParaRPr lang="it-IT" sz="4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4039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1C0249-B58C-0543-043B-0BB22C2E54EC}"/>
              </a:ext>
            </a:extLst>
          </p:cNvPr>
          <p:cNvSpPr txBox="1"/>
          <p:nvPr/>
        </p:nvSpPr>
        <p:spPr>
          <a:xfrm>
            <a:off x="560439" y="296606"/>
            <a:ext cx="11071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latin typeface="+mj-lt"/>
              </a:rPr>
              <a:t>The Dataset</a:t>
            </a:r>
          </a:p>
        </p:txBody>
      </p:sp>
    </p:spTree>
    <p:extLst>
      <p:ext uri="{BB962C8B-B14F-4D97-AF65-F5344CB8AC3E}">
        <p14:creationId xmlns:p14="http://schemas.microsoft.com/office/powerpoint/2010/main" val="378154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93DD63-EF30-A6F3-5B4B-1D999CC2E902}"/>
              </a:ext>
            </a:extLst>
          </p:cNvPr>
          <p:cNvSpPr txBox="1"/>
          <p:nvPr/>
        </p:nvSpPr>
        <p:spPr>
          <a:xfrm>
            <a:off x="355600" y="314960"/>
            <a:ext cx="11521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latin typeface="+mj-lt"/>
              </a:rPr>
              <a:t>Quantile </a:t>
            </a:r>
            <a:r>
              <a:rPr lang="it-IT" sz="4400" b="1" dirty="0" err="1">
                <a:latin typeface="+mj-lt"/>
              </a:rPr>
              <a:t>regression</a:t>
            </a:r>
            <a:endParaRPr lang="it-IT" sz="4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57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7F5BBDC-C7AB-E409-10B6-FFAEF772F12A}"/>
              </a:ext>
            </a:extLst>
          </p:cNvPr>
          <p:cNvSpPr txBox="1"/>
          <p:nvPr/>
        </p:nvSpPr>
        <p:spPr>
          <a:xfrm>
            <a:off x="264160" y="243840"/>
            <a:ext cx="11562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latin typeface="+mj-lt"/>
              </a:rPr>
              <a:t>Depth Space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FAB969-29AC-E4D2-38F3-C6E18AACF8A3}"/>
              </a:ext>
            </a:extLst>
          </p:cNvPr>
          <p:cNvSpPr txBox="1"/>
          <p:nvPr/>
        </p:nvSpPr>
        <p:spPr>
          <a:xfrm>
            <a:off x="4460240" y="4754880"/>
            <a:ext cx="316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IMMAGINE DEL DEPTH SPACE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FCF4EF-DB51-A72F-1EE8-28D197E635CF}"/>
              </a:ext>
            </a:extLst>
          </p:cNvPr>
          <p:cNvSpPr txBox="1"/>
          <p:nvPr/>
        </p:nvSpPr>
        <p:spPr>
          <a:xfrm>
            <a:off x="4196080" y="1148080"/>
            <a:ext cx="4409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Definizione di </a:t>
            </a:r>
            <a:r>
              <a:rPr lang="it-IT" dirty="0" err="1"/>
              <a:t>Projection</a:t>
            </a:r>
            <a:r>
              <a:rPr lang="it-IT" dirty="0"/>
              <a:t> </a:t>
            </a:r>
            <a:r>
              <a:rPr lang="it-IT" dirty="0" err="1"/>
              <a:t>depth</a:t>
            </a:r>
            <a:r>
              <a:rPr lang="it-IT" dirty="0"/>
              <a:t> e mappa da feature </a:t>
            </a:r>
            <a:r>
              <a:rPr lang="it-IT" dirty="0" err="1"/>
              <a:t>space</a:t>
            </a:r>
            <a:r>
              <a:rPr lang="it-IT" dirty="0"/>
              <a:t> a </a:t>
            </a:r>
            <a:r>
              <a:rPr lang="it-IT" dirty="0" err="1"/>
              <a:t>depth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 (stessa della presentazione intermedia</a:t>
            </a:r>
          </a:p>
        </p:txBody>
      </p:sp>
    </p:spTree>
    <p:extLst>
      <p:ext uri="{BB962C8B-B14F-4D97-AF65-F5344CB8AC3E}">
        <p14:creationId xmlns:p14="http://schemas.microsoft.com/office/powerpoint/2010/main" val="123602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DC4FA6-D090-D365-3FC5-63D60DDD2E83}"/>
              </a:ext>
            </a:extLst>
          </p:cNvPr>
          <p:cNvSpPr txBox="1"/>
          <p:nvPr/>
        </p:nvSpPr>
        <p:spPr>
          <a:xfrm>
            <a:off x="558800" y="1951672"/>
            <a:ext cx="7650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DD-alpha</a:t>
            </a:r>
          </a:p>
          <a:p>
            <a:r>
              <a:rPr lang="it-IT" dirty="0"/>
              <a:t>SVM</a:t>
            </a:r>
          </a:p>
          <a:p>
            <a:r>
              <a:rPr lang="it-IT" dirty="0"/>
              <a:t>KNN</a:t>
            </a:r>
          </a:p>
          <a:p>
            <a:r>
              <a:rPr lang="it-IT" dirty="0" err="1"/>
              <a:t>Conformal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Accuracy</a:t>
            </a:r>
            <a:r>
              <a:rPr lang="it-IT" dirty="0"/>
              <a:t> of </a:t>
            </a:r>
            <a:r>
              <a:rPr lang="it-IT" dirty="0" err="1"/>
              <a:t>each</a:t>
            </a:r>
            <a:r>
              <a:rPr lang="it-IT" dirty="0"/>
              <a:t> one, no </a:t>
            </a:r>
            <a:r>
              <a:rPr lang="it-IT" dirty="0" err="1"/>
              <a:t>description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say</a:t>
            </a:r>
            <a:r>
              <a:rPr lang="it-IT" dirty="0"/>
              <a:t> </a:t>
            </a:r>
            <a:r>
              <a:rPr lang="it-IT" dirty="0" err="1"/>
              <a:t>meh</a:t>
            </a:r>
            <a:r>
              <a:rPr lang="it-IT" dirty="0"/>
              <a:t> results</a:t>
            </a:r>
          </a:p>
          <a:p>
            <a:endParaRPr lang="it-IT" dirty="0"/>
          </a:p>
          <a:p>
            <a:r>
              <a:rPr lang="it-IT" dirty="0"/>
              <a:t>Ho dimenticato di fare anche la </a:t>
            </a:r>
            <a:r>
              <a:rPr lang="it-IT" dirty="0" err="1"/>
              <a:t>balanced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di questi la faccio domani al volo</a:t>
            </a:r>
          </a:p>
          <a:p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9901A87-AA4D-3EF5-8E25-DA47511A6EB8}"/>
              </a:ext>
            </a:extLst>
          </p:cNvPr>
          <p:cNvSpPr txBox="1"/>
          <p:nvPr/>
        </p:nvSpPr>
        <p:spPr>
          <a:xfrm>
            <a:off x="965200" y="284480"/>
            <a:ext cx="104851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/>
              <a:t>Depth </a:t>
            </a:r>
            <a:r>
              <a:rPr lang="it-IT" sz="4400" b="1" dirty="0" err="1"/>
              <a:t>Based</a:t>
            </a:r>
            <a:r>
              <a:rPr lang="it-IT" sz="4400" b="1" dirty="0"/>
              <a:t> </a:t>
            </a:r>
            <a:r>
              <a:rPr lang="it-IT" sz="4400" b="1" dirty="0" err="1"/>
              <a:t>Classication</a:t>
            </a:r>
            <a:endParaRPr lang="it-IT" sz="4400" b="1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2891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51801A-098E-495D-C95C-090C34B41A74}"/>
              </a:ext>
            </a:extLst>
          </p:cNvPr>
          <p:cNvSpPr txBox="1"/>
          <p:nvPr/>
        </p:nvSpPr>
        <p:spPr>
          <a:xfrm>
            <a:off x="2621280" y="274320"/>
            <a:ext cx="8097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 err="1">
                <a:latin typeface="+mj-lt"/>
              </a:rPr>
              <a:t>Closer</a:t>
            </a:r>
            <a:r>
              <a:rPr lang="it-IT" sz="4400" b="1" dirty="0">
                <a:latin typeface="+mj-lt"/>
              </a:rPr>
              <a:t> </a:t>
            </a:r>
            <a:r>
              <a:rPr lang="it-IT" sz="4400" b="1" dirty="0" err="1">
                <a:latin typeface="+mj-lt"/>
              </a:rPr>
              <a:t>inspection</a:t>
            </a:r>
            <a:r>
              <a:rPr lang="it-IT" sz="4400" b="1" dirty="0">
                <a:latin typeface="+mj-lt"/>
              </a:rPr>
              <a:t> of the data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3523E0-C12F-4AFE-C172-2982923E47E1}"/>
              </a:ext>
            </a:extLst>
          </p:cNvPr>
          <p:cNvSpPr txBox="1"/>
          <p:nvPr/>
        </p:nvSpPr>
        <p:spPr>
          <a:xfrm>
            <a:off x="3048000" y="2153920"/>
            <a:ext cx="1069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IMMAGINE DEPTH SPACE DI NUOVO + FIGURE 4 b E c dal report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7021094-5A3A-FDCD-9802-AEF9CAB6C7C7}"/>
              </a:ext>
            </a:extLst>
          </p:cNvPr>
          <p:cNvSpPr txBox="1"/>
          <p:nvPr/>
        </p:nvSpPr>
        <p:spPr>
          <a:xfrm>
            <a:off x="2727960" y="3429000"/>
            <a:ext cx="788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Spieghiamo a voce che i dati sono </a:t>
            </a:r>
            <a:r>
              <a:rPr lang="it-IT" dirty="0" err="1"/>
              <a:t>nested</a:t>
            </a:r>
            <a:r>
              <a:rPr lang="it-IT" dirty="0"/>
              <a:t> e quindi è più efficiente usare la </a:t>
            </a:r>
            <a:r>
              <a:rPr lang="it-IT" dirty="0" err="1"/>
              <a:t>dispersion</a:t>
            </a:r>
            <a:r>
              <a:rPr lang="it-IT" dirty="0"/>
              <a:t> piuttosto che la location per classificare</a:t>
            </a:r>
          </a:p>
        </p:txBody>
      </p:sp>
    </p:spTree>
    <p:extLst>
      <p:ext uri="{BB962C8B-B14F-4D97-AF65-F5344CB8AC3E}">
        <p14:creationId xmlns:p14="http://schemas.microsoft.com/office/powerpoint/2010/main" val="414438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45A9894-2C61-20CC-D3F9-F68BC9F9D3C0}"/>
              </a:ext>
            </a:extLst>
          </p:cNvPr>
          <p:cNvSpPr txBox="1"/>
          <p:nvPr/>
        </p:nvSpPr>
        <p:spPr>
          <a:xfrm>
            <a:off x="1381760" y="375920"/>
            <a:ext cx="9276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 err="1">
                <a:latin typeface="+mj-lt"/>
              </a:rPr>
              <a:t>Dispersion</a:t>
            </a:r>
            <a:r>
              <a:rPr lang="it-IT" sz="4400" b="1" dirty="0">
                <a:latin typeface="+mj-lt"/>
              </a:rPr>
              <a:t> </a:t>
            </a:r>
            <a:r>
              <a:rPr lang="it-IT" sz="4400" b="1" dirty="0" err="1">
                <a:latin typeface="+mj-lt"/>
              </a:rPr>
              <a:t>Quantifiers</a:t>
            </a:r>
            <a:endParaRPr lang="it-IT" sz="4400" b="1" dirty="0">
              <a:latin typeface="+mj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354F5CE-EF77-6AB6-DE04-4DE3D409750E}"/>
              </a:ext>
            </a:extLst>
          </p:cNvPr>
          <p:cNvSpPr txBox="1"/>
          <p:nvPr/>
        </p:nvSpPr>
        <p:spPr>
          <a:xfrm>
            <a:off x="894080" y="1920240"/>
            <a:ext cx="10119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Tutti gli indici della sezione 2.11 del report con </a:t>
            </a:r>
            <a:r>
              <a:rPr lang="it-IT" dirty="0" err="1"/>
              <a:t>accuracy</a:t>
            </a:r>
            <a:r>
              <a:rPr lang="it-IT" dirty="0"/>
              <a:t>, Ho dimenticato di fare anche la </a:t>
            </a:r>
            <a:r>
              <a:rPr lang="it-IT" dirty="0" err="1"/>
              <a:t>balanced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di questi la faccio domani al volo</a:t>
            </a: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2BF6B3-1F06-FEBC-083E-C82ACF584F92}"/>
              </a:ext>
            </a:extLst>
          </p:cNvPr>
          <p:cNvSpPr txBox="1"/>
          <p:nvPr/>
        </p:nvSpPr>
        <p:spPr>
          <a:xfrm>
            <a:off x="822960" y="3429000"/>
            <a:ext cx="1046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Diciamo che uno vale un </a:t>
            </a:r>
            <a:r>
              <a:rPr lang="it-IT" dirty="0" err="1"/>
              <a:t>po</a:t>
            </a:r>
            <a:r>
              <a:rPr lang="it-IT" dirty="0"/>
              <a:t> l’altro, sono tutti molto correlati, il migliore è quello quadratico, il quinto è interessante perché si può </a:t>
            </a:r>
            <a:r>
              <a:rPr lang="it-IT" dirty="0" err="1"/>
              <a:t>tunare</a:t>
            </a:r>
            <a:r>
              <a:rPr lang="it-IT" dirty="0"/>
              <a:t> per screening molto facilmente</a:t>
            </a:r>
          </a:p>
        </p:txBody>
      </p:sp>
    </p:spTree>
    <p:extLst>
      <p:ext uri="{BB962C8B-B14F-4D97-AF65-F5344CB8AC3E}">
        <p14:creationId xmlns:p14="http://schemas.microsoft.com/office/powerpoint/2010/main" val="254585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5D6D23-C41D-EB56-0CCC-3938CE63386B}"/>
              </a:ext>
            </a:extLst>
          </p:cNvPr>
          <p:cNvSpPr txBox="1"/>
          <p:nvPr/>
        </p:nvSpPr>
        <p:spPr>
          <a:xfrm>
            <a:off x="863600" y="325120"/>
            <a:ext cx="10678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/>
              <a:t>First set of </a:t>
            </a:r>
            <a:r>
              <a:rPr lang="it-IT" sz="4400" b="1" dirty="0" err="1"/>
              <a:t>conclusions</a:t>
            </a:r>
            <a:endParaRPr lang="it-IT" sz="4400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290367A-9BEC-244D-68EA-6645F81FEA12}"/>
              </a:ext>
            </a:extLst>
          </p:cNvPr>
          <p:cNvSpPr txBox="1"/>
          <p:nvPr/>
        </p:nvSpPr>
        <p:spPr>
          <a:xfrm>
            <a:off x="711200" y="2062480"/>
            <a:ext cx="1061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L’accuratezza massima è circa il 60% che è </a:t>
            </a:r>
            <a:r>
              <a:rPr lang="it-IT" dirty="0" err="1"/>
              <a:t>meh</a:t>
            </a:r>
            <a:r>
              <a:rPr lang="it-IT" dirty="0"/>
              <a:t>, ci chiediamo se è un problema dei dati o della rappresentazione che abbiamo scelto dei dati</a:t>
            </a:r>
          </a:p>
        </p:txBody>
      </p:sp>
    </p:spTree>
    <p:extLst>
      <p:ext uri="{BB962C8B-B14F-4D97-AF65-F5344CB8AC3E}">
        <p14:creationId xmlns:p14="http://schemas.microsoft.com/office/powerpoint/2010/main" val="390426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46CB9EA-502C-D6D3-4598-CEA89D5C2E16}"/>
              </a:ext>
            </a:extLst>
          </p:cNvPr>
          <p:cNvSpPr txBox="1"/>
          <p:nvPr/>
        </p:nvSpPr>
        <p:spPr>
          <a:xfrm>
            <a:off x="1107440" y="548640"/>
            <a:ext cx="97739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 err="1">
                <a:latin typeface="+mj-lt"/>
              </a:rPr>
              <a:t>Functional</a:t>
            </a:r>
            <a:r>
              <a:rPr lang="it-IT" sz="4400" b="1" dirty="0">
                <a:latin typeface="+mj-lt"/>
              </a:rPr>
              <a:t> </a:t>
            </a:r>
            <a:r>
              <a:rPr lang="it-IT" sz="4400" b="1" dirty="0" err="1">
                <a:latin typeface="+mj-lt"/>
              </a:rPr>
              <a:t>approach</a:t>
            </a:r>
            <a:endParaRPr lang="it-IT" sz="4400" b="1" dirty="0">
              <a:latin typeface="+mj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283921D-CC93-C078-603D-40B259D555F6}"/>
              </a:ext>
            </a:extLst>
          </p:cNvPr>
          <p:cNvSpPr txBox="1"/>
          <p:nvPr/>
        </p:nvSpPr>
        <p:spPr>
          <a:xfrm>
            <a:off x="3078480" y="1800274"/>
            <a:ext cx="675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IMMAGINE DI UNO SPAGHETTI PLOT, non c’è ancora nel report domani la preparo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119C276-F4BB-332A-263E-9B1835701209}"/>
              </a:ext>
            </a:extLst>
          </p:cNvPr>
          <p:cNvSpPr txBox="1"/>
          <p:nvPr/>
        </p:nvSpPr>
        <p:spPr>
          <a:xfrm>
            <a:off x="1544320" y="4604435"/>
            <a:ext cx="957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Spieghiamo a voce che facciamo una </a:t>
            </a:r>
            <a:r>
              <a:rPr lang="it-IT" dirty="0" err="1"/>
              <a:t>grid</a:t>
            </a:r>
            <a:r>
              <a:rPr lang="it-IT" dirty="0"/>
              <a:t> temporale e tramite interpolazione lineare otteniamo per ogni volume di ogni paziente una funzione del tempo</a:t>
            </a:r>
          </a:p>
        </p:txBody>
      </p:sp>
    </p:spTree>
    <p:extLst>
      <p:ext uri="{BB962C8B-B14F-4D97-AF65-F5344CB8AC3E}">
        <p14:creationId xmlns:p14="http://schemas.microsoft.com/office/powerpoint/2010/main" val="233929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18E365-023D-D362-0995-549BEA50327A}"/>
              </a:ext>
            </a:extLst>
          </p:cNvPr>
          <p:cNvSpPr txBox="1"/>
          <p:nvPr/>
        </p:nvSpPr>
        <p:spPr>
          <a:xfrm>
            <a:off x="1107440" y="467360"/>
            <a:ext cx="100482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 err="1"/>
              <a:t>Functional</a:t>
            </a:r>
            <a:r>
              <a:rPr lang="it-IT" sz="4400" b="1" dirty="0"/>
              <a:t> </a:t>
            </a:r>
            <a:r>
              <a:rPr lang="it-IT" sz="4400" b="1" dirty="0" err="1"/>
              <a:t>depth</a:t>
            </a:r>
            <a:r>
              <a:rPr lang="it-IT" sz="4400" b="1" dirty="0"/>
              <a:t> </a:t>
            </a:r>
            <a:r>
              <a:rPr lang="it-IT" sz="4400" b="1" dirty="0" err="1"/>
              <a:t>based</a:t>
            </a:r>
            <a:r>
              <a:rPr lang="it-IT" sz="4400" b="1" dirty="0"/>
              <a:t> </a:t>
            </a:r>
            <a:r>
              <a:rPr lang="it-IT" sz="4400" b="1" dirty="0" err="1"/>
              <a:t>classification</a:t>
            </a:r>
            <a:endParaRPr lang="it-IT" sz="4400" b="1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48AC677-7E1F-A955-617A-ADEC441D8EEB}"/>
              </a:ext>
            </a:extLst>
          </p:cNvPr>
          <p:cNvSpPr txBox="1"/>
          <p:nvPr/>
        </p:nvSpPr>
        <p:spPr>
          <a:xfrm>
            <a:off x="2316480" y="1899920"/>
            <a:ext cx="738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prima facciamo </a:t>
            </a:r>
            <a:r>
              <a:rPr lang="it-IT" dirty="0" err="1"/>
              <a:t>classification</a:t>
            </a:r>
            <a:r>
              <a:rPr lang="it-IT" dirty="0"/>
              <a:t> nel </a:t>
            </a:r>
            <a:r>
              <a:rPr lang="it-IT" dirty="0" err="1"/>
              <a:t>depth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, come </a:t>
            </a:r>
            <a:r>
              <a:rPr lang="it-IT" dirty="0" err="1"/>
              <a:t>depth</a:t>
            </a:r>
            <a:r>
              <a:rPr lang="it-IT" dirty="0"/>
              <a:t> qui usiamo: MBD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B9BAB9-0E1B-6828-E334-9283E108081A}"/>
              </a:ext>
            </a:extLst>
          </p:cNvPr>
          <p:cNvSpPr txBox="1"/>
          <p:nvPr/>
        </p:nvSpPr>
        <p:spPr>
          <a:xfrm>
            <a:off x="1808480" y="3982720"/>
            <a:ext cx="8625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Accuracy</a:t>
            </a:r>
            <a:r>
              <a:rPr lang="it-IT" dirty="0"/>
              <a:t> and </a:t>
            </a:r>
            <a:r>
              <a:rPr lang="it-IT" dirty="0" err="1"/>
              <a:t>balanced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, io metterei solo i 2 «3-class model» della prima sezione di </a:t>
            </a:r>
            <a:r>
              <a:rPr lang="it-IT" dirty="0" err="1"/>
              <a:t>functional</a:t>
            </a:r>
            <a:r>
              <a:rPr lang="it-IT" dirty="0"/>
              <a:t> e il </a:t>
            </a:r>
            <a:r>
              <a:rPr lang="it-IT" dirty="0" err="1"/>
              <a:t>binary</a:t>
            </a:r>
            <a:r>
              <a:rPr lang="it-IT" dirty="0"/>
              <a:t> </a:t>
            </a:r>
            <a:r>
              <a:rPr lang="it-IT" dirty="0" err="1"/>
              <a:t>classifier</a:t>
            </a:r>
            <a:r>
              <a:rPr lang="it-IT" dirty="0"/>
              <a:t> AD vs non-AD. Non metterei CN vs AD perché nella pratica non lo si può utilizzare.</a:t>
            </a:r>
          </a:p>
        </p:txBody>
      </p:sp>
    </p:spTree>
    <p:extLst>
      <p:ext uri="{BB962C8B-B14F-4D97-AF65-F5344CB8AC3E}">
        <p14:creationId xmlns:p14="http://schemas.microsoft.com/office/powerpoint/2010/main" val="3101033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4190AB-38D9-7B06-7DCB-A76EB61E0217}"/>
              </a:ext>
            </a:extLst>
          </p:cNvPr>
          <p:cNvSpPr txBox="1"/>
          <p:nvPr/>
        </p:nvSpPr>
        <p:spPr>
          <a:xfrm>
            <a:off x="518160" y="172720"/>
            <a:ext cx="1070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latin typeface="+mj-lt"/>
              </a:rPr>
              <a:t>Functional</a:t>
            </a:r>
            <a:r>
              <a:rPr lang="it-IT" sz="4000" b="1" dirty="0">
                <a:latin typeface="+mj-lt"/>
              </a:rPr>
              <a:t> </a:t>
            </a:r>
            <a:r>
              <a:rPr lang="it-IT" sz="4000" b="1" dirty="0" err="1">
                <a:latin typeface="+mj-lt"/>
              </a:rPr>
              <a:t>Dispersion-based</a:t>
            </a:r>
            <a:r>
              <a:rPr lang="it-IT" sz="4000" b="1" dirty="0">
                <a:latin typeface="+mj-lt"/>
              </a:rPr>
              <a:t> </a:t>
            </a:r>
            <a:r>
              <a:rPr lang="it-IT" sz="4000" b="1" dirty="0" err="1">
                <a:latin typeface="+mj-lt"/>
              </a:rPr>
              <a:t>classification</a:t>
            </a:r>
            <a:endParaRPr lang="it-IT" sz="4000" b="1" dirty="0">
              <a:latin typeface="+mj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E0D0384-2794-1E6A-CD6A-895EA8349B8F}"/>
              </a:ext>
            </a:extLst>
          </p:cNvPr>
          <p:cNvSpPr txBox="1"/>
          <p:nvPr/>
        </p:nvSpPr>
        <p:spPr>
          <a:xfrm>
            <a:off x="1778000" y="1371600"/>
            <a:ext cx="926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 la stessa idea di prima proviamo a quantificare la dispersione per classificare. </a:t>
            </a:r>
            <a:r>
              <a:rPr lang="it-IT" dirty="0" err="1"/>
              <a:t>Accuracy</a:t>
            </a:r>
            <a:r>
              <a:rPr lang="it-IT" dirty="0"/>
              <a:t> dell’ultimo modello della parte </a:t>
            </a:r>
            <a:r>
              <a:rPr lang="it-IT" dirty="0" err="1"/>
              <a:t>functional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604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4AC60A-CCDE-409B-388B-89371ED86488}"/>
              </a:ext>
            </a:extLst>
          </p:cNvPr>
          <p:cNvSpPr txBox="1"/>
          <p:nvPr/>
        </p:nvSpPr>
        <p:spPr>
          <a:xfrm>
            <a:off x="345440" y="193040"/>
            <a:ext cx="11389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 err="1">
                <a:latin typeface="+mj-lt"/>
              </a:rPr>
              <a:t>Final</a:t>
            </a:r>
            <a:r>
              <a:rPr lang="it-IT" sz="4400" b="1" dirty="0">
                <a:latin typeface="+mj-lt"/>
              </a:rPr>
              <a:t> </a:t>
            </a:r>
            <a:r>
              <a:rPr lang="it-IT" sz="4400" b="1" dirty="0" err="1">
                <a:latin typeface="+mj-lt"/>
              </a:rPr>
              <a:t>conclusions</a:t>
            </a:r>
            <a:endParaRPr lang="it-IT" sz="4400" b="1" dirty="0">
              <a:latin typeface="+mj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4EAA0D-9E01-95C4-2E19-3AA32354F0BF}"/>
              </a:ext>
            </a:extLst>
          </p:cNvPr>
          <p:cNvSpPr txBox="1"/>
          <p:nvPr/>
        </p:nvSpPr>
        <p:spPr>
          <a:xfrm>
            <a:off x="1270000" y="2184400"/>
            <a:ext cx="11094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data are </a:t>
            </a:r>
            <a:r>
              <a:rPr lang="it-IT" dirty="0" err="1"/>
              <a:t>intrinsically</a:t>
            </a:r>
            <a:r>
              <a:rPr lang="it-IT" dirty="0"/>
              <a:t> </a:t>
            </a:r>
            <a:r>
              <a:rPr lang="it-IT" dirty="0" err="1"/>
              <a:t>overlapping</a:t>
            </a:r>
            <a:r>
              <a:rPr lang="it-IT" dirty="0"/>
              <a:t>, </a:t>
            </a:r>
            <a:r>
              <a:rPr lang="it-IT" dirty="0" err="1"/>
              <a:t>noisy</a:t>
            </a:r>
            <a:r>
              <a:rPr lang="it-IT" dirty="0"/>
              <a:t> and the </a:t>
            </a:r>
            <a:r>
              <a:rPr lang="it-IT" dirty="0" err="1"/>
              <a:t>huge</a:t>
            </a:r>
            <a:r>
              <a:rPr lang="it-IT" dirty="0"/>
              <a:t> </a:t>
            </a:r>
            <a:r>
              <a:rPr lang="it-IT" dirty="0" err="1"/>
              <a:t>dimensionality</a:t>
            </a:r>
            <a:r>
              <a:rPr lang="it-IT" dirty="0"/>
              <a:t> </a:t>
            </a:r>
            <a:r>
              <a:rPr lang="it-IT" dirty="0" err="1"/>
              <a:t>doesn’t</a:t>
            </a:r>
            <a:r>
              <a:rPr lang="it-IT" dirty="0"/>
              <a:t> help.</a:t>
            </a:r>
          </a:p>
          <a:p>
            <a:r>
              <a:rPr lang="it-IT" dirty="0"/>
              <a:t>Ci dovrebbero essere anche altri articoli che con questi </a:t>
            </a:r>
            <a:r>
              <a:rPr lang="it-IT" dirty="0" err="1"/>
              <a:t>etodi</a:t>
            </a:r>
            <a:r>
              <a:rPr lang="it-IT" dirty="0"/>
              <a:t> ottengono solo circa il 60% di </a:t>
            </a:r>
            <a:r>
              <a:rPr lang="it-IT" dirty="0" err="1"/>
              <a:t>accuracy</a:t>
            </a:r>
            <a:r>
              <a:rPr lang="it-IT" dirty="0"/>
              <a:t> usando tecniche non parametriche andrebbero cercati</a:t>
            </a:r>
          </a:p>
        </p:txBody>
      </p:sp>
    </p:spTree>
    <p:extLst>
      <p:ext uri="{BB962C8B-B14F-4D97-AF65-F5344CB8AC3E}">
        <p14:creationId xmlns:p14="http://schemas.microsoft.com/office/powerpoint/2010/main" val="134340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31F8411-92CE-9F12-F369-92747A4D022B}"/>
              </a:ext>
            </a:extLst>
          </p:cNvPr>
          <p:cNvSpPr txBox="1"/>
          <p:nvPr/>
        </p:nvSpPr>
        <p:spPr>
          <a:xfrm>
            <a:off x="640080" y="304800"/>
            <a:ext cx="1087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latin typeface="+mj-lt"/>
              </a:rPr>
              <a:t>Possible steps for </a:t>
            </a:r>
            <a:r>
              <a:rPr lang="it-IT" sz="4400" b="1" dirty="0" err="1">
                <a:latin typeface="+mj-lt"/>
              </a:rPr>
              <a:t>improved</a:t>
            </a:r>
            <a:r>
              <a:rPr lang="it-IT" sz="4400" b="1" dirty="0">
                <a:latin typeface="+mj-lt"/>
              </a:rPr>
              <a:t> performances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2F5737-E988-07BF-E676-90A3B0379160}"/>
              </a:ext>
            </a:extLst>
          </p:cNvPr>
          <p:cNvSpPr txBox="1"/>
          <p:nvPr/>
        </p:nvSpPr>
        <p:spPr>
          <a:xfrm>
            <a:off x="899160" y="1420614"/>
            <a:ext cx="103530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 err="1"/>
              <a:t>Neural</a:t>
            </a:r>
            <a:r>
              <a:rPr lang="it-IT" dirty="0"/>
              <a:t> Networks</a:t>
            </a:r>
          </a:p>
          <a:p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Involve a </a:t>
            </a:r>
            <a:r>
              <a:rPr lang="it-IT" dirty="0" err="1"/>
              <a:t>subject</a:t>
            </a:r>
            <a:r>
              <a:rPr lang="it-IT" dirty="0"/>
              <a:t> </a:t>
            </a:r>
            <a:r>
              <a:rPr lang="it-IT" dirty="0" err="1"/>
              <a:t>expert</a:t>
            </a:r>
            <a:r>
              <a:rPr lang="it-IT" dirty="0"/>
              <a:t> (a </a:t>
            </a:r>
            <a:r>
              <a:rPr lang="it-IT" dirty="0" err="1"/>
              <a:t>neurologist</a:t>
            </a:r>
            <a:r>
              <a:rPr lang="it-IT" dirty="0"/>
              <a:t>) and </a:t>
            </a:r>
            <a:r>
              <a:rPr lang="it-IT" dirty="0" err="1"/>
              <a:t>ask</a:t>
            </a:r>
            <a:r>
              <a:rPr lang="it-IT" dirty="0"/>
              <a:t> </a:t>
            </a:r>
            <a:r>
              <a:rPr lang="it-IT" dirty="0" err="1"/>
              <a:t>him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he </a:t>
            </a:r>
            <a:r>
              <a:rPr lang="it-IT" dirty="0" err="1"/>
              <a:t>determines</a:t>
            </a:r>
            <a:r>
              <a:rPr lang="it-IT" dirty="0"/>
              <a:t> a </a:t>
            </a:r>
            <a:r>
              <a:rPr lang="it-IT" dirty="0" err="1"/>
              <a:t>patient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Alzhimer</a:t>
            </a:r>
            <a:r>
              <a:rPr lang="it-IT" dirty="0"/>
              <a:t> </a:t>
            </a:r>
            <a:r>
              <a:rPr lang="it-IT" dirty="0" err="1"/>
              <a:t>looking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MRI and </a:t>
            </a:r>
            <a:r>
              <a:rPr lang="it-IT" dirty="0" err="1"/>
              <a:t>try</a:t>
            </a:r>
            <a:r>
              <a:rPr lang="it-IT" dirty="0"/>
              <a:t> to </a:t>
            </a:r>
            <a:r>
              <a:rPr lang="it-IT" dirty="0" err="1"/>
              <a:t>implement</a:t>
            </a:r>
            <a:r>
              <a:rPr lang="it-IT" dirty="0"/>
              <a:t> </a:t>
            </a:r>
            <a:r>
              <a:rPr lang="it-IT" dirty="0" err="1"/>
              <a:t>that</a:t>
            </a: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cohort</a:t>
            </a:r>
            <a:r>
              <a:rPr lang="it-IT" dirty="0"/>
              <a:t> for more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estimates</a:t>
            </a: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More </a:t>
            </a:r>
            <a:r>
              <a:rPr lang="it-IT" dirty="0" err="1"/>
              <a:t>unstable-patients</a:t>
            </a:r>
            <a:r>
              <a:rPr lang="it-IT" dirty="0"/>
              <a:t> to </a:t>
            </a:r>
            <a:r>
              <a:rPr lang="it-IT" dirty="0" err="1"/>
              <a:t>evaluate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the </a:t>
            </a:r>
            <a:r>
              <a:rPr lang="it-IT" dirty="0" err="1"/>
              <a:t>Diagnose-changing</a:t>
            </a:r>
            <a:r>
              <a:rPr lang="it-IT" dirty="0"/>
              <a:t> </a:t>
            </a:r>
            <a:r>
              <a:rPr lang="it-IT" dirty="0" err="1"/>
              <a:t>behavior</a:t>
            </a: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6901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ccia a destra 43">
            <a:extLst>
              <a:ext uri="{FF2B5EF4-FFF2-40B4-BE49-F238E27FC236}">
                <a16:creationId xmlns:a16="http://schemas.microsoft.com/office/drawing/2014/main" id="{A6710B20-10D3-7982-459D-563B368C64E7}"/>
              </a:ext>
            </a:extLst>
          </p:cNvPr>
          <p:cNvSpPr/>
          <p:nvPr/>
        </p:nvSpPr>
        <p:spPr>
          <a:xfrm>
            <a:off x="8790694" y="5686757"/>
            <a:ext cx="1258287" cy="405433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Freccia a destra 40">
            <a:extLst>
              <a:ext uri="{FF2B5EF4-FFF2-40B4-BE49-F238E27FC236}">
                <a16:creationId xmlns:a16="http://schemas.microsoft.com/office/drawing/2014/main" id="{375F1895-09DB-871A-D43D-ED266FB2391E}"/>
              </a:ext>
            </a:extLst>
          </p:cNvPr>
          <p:cNvSpPr/>
          <p:nvPr/>
        </p:nvSpPr>
        <p:spPr>
          <a:xfrm>
            <a:off x="6516219" y="5699349"/>
            <a:ext cx="1905254" cy="405436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Freccia a destra 36">
            <a:extLst>
              <a:ext uri="{FF2B5EF4-FFF2-40B4-BE49-F238E27FC236}">
                <a16:creationId xmlns:a16="http://schemas.microsoft.com/office/drawing/2014/main" id="{A8FD1D9B-0A24-1C3C-B1B3-A4D4CF51BFDD}"/>
              </a:ext>
            </a:extLst>
          </p:cNvPr>
          <p:cNvSpPr/>
          <p:nvPr/>
        </p:nvSpPr>
        <p:spPr>
          <a:xfrm>
            <a:off x="4120509" y="5652356"/>
            <a:ext cx="1905254" cy="405436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Freccia a destra 28">
            <a:extLst>
              <a:ext uri="{FF2B5EF4-FFF2-40B4-BE49-F238E27FC236}">
                <a16:creationId xmlns:a16="http://schemas.microsoft.com/office/drawing/2014/main" id="{9218FC52-85F4-5CCB-7CC7-5761B3314E82}"/>
              </a:ext>
            </a:extLst>
          </p:cNvPr>
          <p:cNvSpPr/>
          <p:nvPr/>
        </p:nvSpPr>
        <p:spPr>
          <a:xfrm>
            <a:off x="8634941" y="1342731"/>
            <a:ext cx="1258287" cy="405433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6A852639-5A4A-B221-CE6C-7973D9DAE695}"/>
              </a:ext>
            </a:extLst>
          </p:cNvPr>
          <p:cNvSpPr/>
          <p:nvPr/>
        </p:nvSpPr>
        <p:spPr>
          <a:xfrm>
            <a:off x="6626800" y="1357415"/>
            <a:ext cx="1822788" cy="375422"/>
          </a:xfrm>
          <a:prstGeom prst="rightArrow">
            <a:avLst>
              <a:gd name="adj1" fmla="val 50000"/>
              <a:gd name="adj2" fmla="val 119333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6791B065-FB81-0A76-50C7-EB3FCEB7E6DA}"/>
              </a:ext>
            </a:extLst>
          </p:cNvPr>
          <p:cNvSpPr/>
          <p:nvPr/>
        </p:nvSpPr>
        <p:spPr>
          <a:xfrm>
            <a:off x="4153638" y="1327403"/>
            <a:ext cx="1757009" cy="405433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354EAAB1-0804-C560-3B9A-3046E686C607}"/>
              </a:ext>
            </a:extLst>
          </p:cNvPr>
          <p:cNvSpPr/>
          <p:nvPr/>
        </p:nvSpPr>
        <p:spPr>
          <a:xfrm rot="19603018">
            <a:off x="599606" y="2335254"/>
            <a:ext cx="3264631" cy="405433"/>
          </a:xfrm>
          <a:prstGeom prst="rightArrow">
            <a:avLst>
              <a:gd name="adj1" fmla="val 50000"/>
              <a:gd name="adj2" fmla="val 119333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onnettore 1">
            <a:extLst>
              <a:ext uri="{FF2B5EF4-FFF2-40B4-BE49-F238E27FC236}">
                <a16:creationId xmlns:a16="http://schemas.microsoft.com/office/drawing/2014/main" id="{AAF21EBE-0605-1D9C-FE1D-E9A34DCF140E}"/>
              </a:ext>
            </a:extLst>
          </p:cNvPr>
          <p:cNvSpPr/>
          <p:nvPr/>
        </p:nvSpPr>
        <p:spPr>
          <a:xfrm>
            <a:off x="491612" y="3070122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onnettore 2">
            <a:extLst>
              <a:ext uri="{FF2B5EF4-FFF2-40B4-BE49-F238E27FC236}">
                <a16:creationId xmlns:a16="http://schemas.microsoft.com/office/drawing/2014/main" id="{46893652-C61C-7AC2-DE96-895B977D4F40}"/>
              </a:ext>
            </a:extLst>
          </p:cNvPr>
          <p:cNvSpPr/>
          <p:nvPr/>
        </p:nvSpPr>
        <p:spPr>
          <a:xfrm>
            <a:off x="6025763" y="1202366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onnettore 3">
            <a:extLst>
              <a:ext uri="{FF2B5EF4-FFF2-40B4-BE49-F238E27FC236}">
                <a16:creationId xmlns:a16="http://schemas.microsoft.com/office/drawing/2014/main" id="{4B3BC535-E6AC-D06D-C0E5-879D205B96E5}"/>
              </a:ext>
            </a:extLst>
          </p:cNvPr>
          <p:cNvSpPr/>
          <p:nvPr/>
        </p:nvSpPr>
        <p:spPr>
          <a:xfrm>
            <a:off x="8332076" y="5496195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onnettore 5">
            <a:extLst>
              <a:ext uri="{FF2B5EF4-FFF2-40B4-BE49-F238E27FC236}">
                <a16:creationId xmlns:a16="http://schemas.microsoft.com/office/drawing/2014/main" id="{D590C578-1C2B-58DD-2313-0E2B837B508A}"/>
              </a:ext>
            </a:extLst>
          </p:cNvPr>
          <p:cNvSpPr/>
          <p:nvPr/>
        </p:nvSpPr>
        <p:spPr>
          <a:xfrm>
            <a:off x="3575727" y="1171243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8F318F66-937C-D60C-FFE4-A0D7203D012A}"/>
              </a:ext>
            </a:extLst>
          </p:cNvPr>
          <p:cNvSpPr/>
          <p:nvPr/>
        </p:nvSpPr>
        <p:spPr>
          <a:xfrm>
            <a:off x="8257395" y="1171243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D7F449F6-7649-8A9D-1426-2454D31A6095}"/>
              </a:ext>
            </a:extLst>
          </p:cNvPr>
          <p:cNvSpPr/>
          <p:nvPr/>
        </p:nvSpPr>
        <p:spPr>
          <a:xfrm>
            <a:off x="6018452" y="5496195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887F5474-E40B-0C23-AC4C-ECFCCDC98FA4}"/>
              </a:ext>
            </a:extLst>
          </p:cNvPr>
          <p:cNvSpPr/>
          <p:nvPr/>
        </p:nvSpPr>
        <p:spPr>
          <a:xfrm>
            <a:off x="3598731" y="5496196"/>
            <a:ext cx="717755" cy="717755"/>
          </a:xfrm>
          <a:prstGeom prst="flowChartConnector">
            <a:avLst/>
          </a:prstGeom>
          <a:solidFill>
            <a:schemeClr val="tx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D7DA40D-245A-CF9C-1C29-2B832686B174}"/>
              </a:ext>
            </a:extLst>
          </p:cNvPr>
          <p:cNvSpPr txBox="1"/>
          <p:nvPr/>
        </p:nvSpPr>
        <p:spPr>
          <a:xfrm>
            <a:off x="112087" y="3809689"/>
            <a:ext cx="219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Raw</a:t>
            </a:r>
            <a:r>
              <a:rPr lang="it-IT" dirty="0"/>
              <a:t> </a:t>
            </a:r>
            <a:r>
              <a:rPr lang="it-IT" dirty="0" err="1"/>
              <a:t>volumes</a:t>
            </a:r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357EC7B-F875-F4C7-ED1E-022E6ED3B53C}"/>
              </a:ext>
            </a:extLst>
          </p:cNvPr>
          <p:cNvSpPr txBox="1"/>
          <p:nvPr/>
        </p:nvSpPr>
        <p:spPr>
          <a:xfrm rot="19564222">
            <a:off x="866698" y="2221778"/>
            <a:ext cx="217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Quantile </a:t>
            </a:r>
            <a:r>
              <a:rPr lang="it-IT" dirty="0" err="1"/>
              <a:t>Regression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E37DCB5-C444-535D-2E6B-A26B78EFE9D6}"/>
              </a:ext>
            </a:extLst>
          </p:cNvPr>
          <p:cNvSpPr txBox="1"/>
          <p:nvPr/>
        </p:nvSpPr>
        <p:spPr>
          <a:xfrm>
            <a:off x="3205315" y="683171"/>
            <a:ext cx="160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Atrophy</a:t>
            </a:r>
            <a:r>
              <a:rPr lang="it-IT" dirty="0"/>
              <a:t> Rates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6C07E9D-ACC2-4E0C-6624-88CE7D09632C}"/>
              </a:ext>
            </a:extLst>
          </p:cNvPr>
          <p:cNvSpPr txBox="1"/>
          <p:nvPr/>
        </p:nvSpPr>
        <p:spPr>
          <a:xfrm>
            <a:off x="4443197" y="1711414"/>
            <a:ext cx="102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Depth Space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3F75B6A-D778-BC85-97E0-4C37643EA0D8}"/>
              </a:ext>
            </a:extLst>
          </p:cNvPr>
          <p:cNvSpPr txBox="1"/>
          <p:nvPr/>
        </p:nvSpPr>
        <p:spPr>
          <a:xfrm>
            <a:off x="5703642" y="217136"/>
            <a:ext cx="24040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DD-alpha</a:t>
            </a:r>
          </a:p>
          <a:p>
            <a:r>
              <a:rPr lang="it-IT" sz="1400" dirty="0"/>
              <a:t>SVM</a:t>
            </a:r>
          </a:p>
          <a:p>
            <a:r>
              <a:rPr lang="it-IT" sz="1400" dirty="0"/>
              <a:t>KNN</a:t>
            </a:r>
          </a:p>
          <a:p>
            <a:r>
              <a:rPr lang="it-IT" sz="1400" dirty="0" err="1"/>
              <a:t>Conformal</a:t>
            </a:r>
            <a:r>
              <a:rPr lang="it-IT" sz="1400" dirty="0"/>
              <a:t> </a:t>
            </a:r>
            <a:r>
              <a:rPr lang="it-IT" sz="1400" dirty="0" err="1"/>
              <a:t>Classification</a:t>
            </a:r>
            <a:endParaRPr lang="it-IT" sz="1400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6698B4E-AB33-FAAE-3B5A-34707FAD8C28}"/>
              </a:ext>
            </a:extLst>
          </p:cNvPr>
          <p:cNvSpPr txBox="1"/>
          <p:nvPr/>
        </p:nvSpPr>
        <p:spPr>
          <a:xfrm>
            <a:off x="6905661" y="1697832"/>
            <a:ext cx="135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Closer</a:t>
            </a:r>
            <a:r>
              <a:rPr lang="it-IT" dirty="0"/>
              <a:t> data </a:t>
            </a:r>
            <a:r>
              <a:rPr lang="it-IT" dirty="0" err="1"/>
              <a:t>inspection</a:t>
            </a:r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F97BD5B-387B-75C9-3E7C-4456F5F0570C}"/>
              </a:ext>
            </a:extLst>
          </p:cNvPr>
          <p:cNvSpPr txBox="1"/>
          <p:nvPr/>
        </p:nvSpPr>
        <p:spPr>
          <a:xfrm>
            <a:off x="8107680" y="390325"/>
            <a:ext cx="201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Dispersion</a:t>
            </a:r>
            <a:r>
              <a:rPr lang="it-IT" dirty="0"/>
              <a:t> </a:t>
            </a:r>
            <a:r>
              <a:rPr lang="it-IT" dirty="0" err="1"/>
              <a:t>quantifiers</a:t>
            </a:r>
            <a:endParaRPr lang="it-IT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544A59D-472C-8C07-17FF-B98004664AA8}"/>
              </a:ext>
            </a:extLst>
          </p:cNvPr>
          <p:cNvSpPr txBox="1"/>
          <p:nvPr/>
        </p:nvSpPr>
        <p:spPr>
          <a:xfrm>
            <a:off x="9893228" y="137883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60% </a:t>
            </a:r>
            <a:r>
              <a:rPr lang="it-IT" dirty="0" err="1"/>
              <a:t>accuracy</a:t>
            </a:r>
            <a:endParaRPr lang="it-IT" dirty="0"/>
          </a:p>
        </p:txBody>
      </p:sp>
      <p:sp>
        <p:nvSpPr>
          <p:cNvPr id="31" name="Freccia a destra 30">
            <a:extLst>
              <a:ext uri="{FF2B5EF4-FFF2-40B4-BE49-F238E27FC236}">
                <a16:creationId xmlns:a16="http://schemas.microsoft.com/office/drawing/2014/main" id="{811DB7E9-6B05-C18C-E03B-7E952B110819}"/>
              </a:ext>
            </a:extLst>
          </p:cNvPr>
          <p:cNvSpPr/>
          <p:nvPr/>
        </p:nvSpPr>
        <p:spPr>
          <a:xfrm rot="5400000">
            <a:off x="10047526" y="2091183"/>
            <a:ext cx="1122126" cy="405433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1E2F4513-94DD-B264-9EE0-5BE0740CFF67}"/>
              </a:ext>
            </a:extLst>
          </p:cNvPr>
          <p:cNvSpPr txBox="1"/>
          <p:nvPr/>
        </p:nvSpPr>
        <p:spPr>
          <a:xfrm>
            <a:off x="9695721" y="2967334"/>
            <a:ext cx="2194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Limitation</a:t>
            </a:r>
            <a:r>
              <a:rPr lang="it-IT" dirty="0"/>
              <a:t> of Data or data </a:t>
            </a:r>
            <a:r>
              <a:rPr lang="it-IT" dirty="0" err="1"/>
              <a:t>representation</a:t>
            </a:r>
            <a:r>
              <a:rPr lang="it-IT" dirty="0"/>
              <a:t>?</a:t>
            </a:r>
          </a:p>
        </p:txBody>
      </p:sp>
      <p:sp>
        <p:nvSpPr>
          <p:cNvPr id="33" name="Freccia a destra 32">
            <a:extLst>
              <a:ext uri="{FF2B5EF4-FFF2-40B4-BE49-F238E27FC236}">
                <a16:creationId xmlns:a16="http://schemas.microsoft.com/office/drawing/2014/main" id="{719ED586-EBF5-7458-4B7D-FE429CAABB28}"/>
              </a:ext>
            </a:extLst>
          </p:cNvPr>
          <p:cNvSpPr/>
          <p:nvPr/>
        </p:nvSpPr>
        <p:spPr>
          <a:xfrm rot="10800000">
            <a:off x="1398999" y="3282767"/>
            <a:ext cx="8120920" cy="405434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reccia a destra 33">
            <a:extLst>
              <a:ext uri="{FF2B5EF4-FFF2-40B4-BE49-F238E27FC236}">
                <a16:creationId xmlns:a16="http://schemas.microsoft.com/office/drawing/2014/main" id="{2E973AE7-F642-DDF9-E9FD-B773F91F3DA7}"/>
              </a:ext>
            </a:extLst>
          </p:cNvPr>
          <p:cNvSpPr/>
          <p:nvPr/>
        </p:nvSpPr>
        <p:spPr>
          <a:xfrm rot="1848532">
            <a:off x="1001825" y="4877938"/>
            <a:ext cx="2926899" cy="405433"/>
          </a:xfrm>
          <a:prstGeom prst="rightArrow">
            <a:avLst>
              <a:gd name="adj1" fmla="val 50000"/>
              <a:gd name="adj2" fmla="val 119333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A894BEF-699A-8B0A-4502-E7B15DF7B08E}"/>
              </a:ext>
            </a:extLst>
          </p:cNvPr>
          <p:cNvSpPr txBox="1"/>
          <p:nvPr/>
        </p:nvSpPr>
        <p:spPr>
          <a:xfrm rot="1885988">
            <a:off x="1271429" y="4791910"/>
            <a:ext cx="305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Linear </a:t>
            </a:r>
            <a:r>
              <a:rPr lang="it-IT" dirty="0" err="1"/>
              <a:t>interpolation</a:t>
            </a:r>
            <a:endParaRPr lang="it-IT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2EE08BD-7957-6A93-A6A5-EA46594DC814}"/>
              </a:ext>
            </a:extLst>
          </p:cNvPr>
          <p:cNvSpPr txBox="1"/>
          <p:nvPr/>
        </p:nvSpPr>
        <p:spPr>
          <a:xfrm>
            <a:off x="2523900" y="6264950"/>
            <a:ext cx="191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Functions</a:t>
            </a:r>
            <a:r>
              <a:rPr lang="it-IT" dirty="0"/>
              <a:t> of time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CC52129-9FA9-0860-F226-DF60EAD779E7}"/>
              </a:ext>
            </a:extLst>
          </p:cNvPr>
          <p:cNvSpPr txBox="1"/>
          <p:nvPr/>
        </p:nvSpPr>
        <p:spPr>
          <a:xfrm>
            <a:off x="4347808" y="5051960"/>
            <a:ext cx="1144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Depth</a:t>
            </a:r>
          </a:p>
          <a:p>
            <a:r>
              <a:rPr lang="it-IT" dirty="0"/>
              <a:t>Space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165536A-6908-5DB1-0CD0-B25B1C694277}"/>
              </a:ext>
            </a:extLst>
          </p:cNvPr>
          <p:cNvSpPr txBox="1"/>
          <p:nvPr/>
        </p:nvSpPr>
        <p:spPr>
          <a:xfrm>
            <a:off x="4966614" y="6264950"/>
            <a:ext cx="3290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Depth-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endParaRPr lang="it-IT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8A18341-DA4B-D951-8848-6DB204C73FF2}"/>
              </a:ext>
            </a:extLst>
          </p:cNvPr>
          <p:cNvSpPr txBox="1"/>
          <p:nvPr/>
        </p:nvSpPr>
        <p:spPr>
          <a:xfrm>
            <a:off x="6736207" y="5091123"/>
            <a:ext cx="144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Closer</a:t>
            </a:r>
            <a:r>
              <a:rPr lang="it-IT" dirty="0"/>
              <a:t> data</a:t>
            </a:r>
          </a:p>
          <a:p>
            <a:r>
              <a:rPr lang="it-IT" dirty="0" err="1"/>
              <a:t>inspection</a:t>
            </a:r>
            <a:endParaRPr lang="it-IT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5F8EFB1-531C-F3AD-5FA0-23EC9C8B7CBE}"/>
              </a:ext>
            </a:extLst>
          </p:cNvPr>
          <p:cNvSpPr txBox="1"/>
          <p:nvPr/>
        </p:nvSpPr>
        <p:spPr>
          <a:xfrm>
            <a:off x="8257396" y="6213950"/>
            <a:ext cx="1438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Dispersion</a:t>
            </a:r>
            <a:endParaRPr lang="it-IT" dirty="0"/>
          </a:p>
          <a:p>
            <a:r>
              <a:rPr lang="it-IT" dirty="0" err="1"/>
              <a:t>Quantifiers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2C62B812-1C80-6C8C-35F7-EA5AA7ACB079}"/>
              </a:ext>
            </a:extLst>
          </p:cNvPr>
          <p:cNvSpPr txBox="1"/>
          <p:nvPr/>
        </p:nvSpPr>
        <p:spPr>
          <a:xfrm>
            <a:off x="10048981" y="5722858"/>
            <a:ext cx="174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54 % </a:t>
            </a:r>
            <a:r>
              <a:rPr lang="it-IT" dirty="0" err="1"/>
              <a:t>Accuracy</a:t>
            </a:r>
            <a:endParaRPr lang="it-IT" dirty="0"/>
          </a:p>
        </p:txBody>
      </p:sp>
      <p:sp>
        <p:nvSpPr>
          <p:cNvPr id="46" name="Freccia a destra 45">
            <a:extLst>
              <a:ext uri="{FF2B5EF4-FFF2-40B4-BE49-F238E27FC236}">
                <a16:creationId xmlns:a16="http://schemas.microsoft.com/office/drawing/2014/main" id="{3B3ED966-722D-1914-B367-C16E0E390B9F}"/>
              </a:ext>
            </a:extLst>
          </p:cNvPr>
          <p:cNvSpPr/>
          <p:nvPr/>
        </p:nvSpPr>
        <p:spPr>
          <a:xfrm rot="16200000">
            <a:off x="10546879" y="5198373"/>
            <a:ext cx="717756" cy="363449"/>
          </a:xfrm>
          <a:prstGeom prst="rightArrow">
            <a:avLst>
              <a:gd name="adj1" fmla="val 50000"/>
              <a:gd name="adj2" fmla="val 842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36B0C88F-1A4A-DCF1-6831-0CA5BB7816CD}"/>
              </a:ext>
            </a:extLst>
          </p:cNvPr>
          <p:cNvSpPr txBox="1"/>
          <p:nvPr/>
        </p:nvSpPr>
        <p:spPr>
          <a:xfrm>
            <a:off x="9948122" y="4502814"/>
            <a:ext cx="184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Probably</a:t>
            </a:r>
            <a:r>
              <a:rPr lang="it-IT" dirty="0"/>
              <a:t> of data</a:t>
            </a:r>
          </a:p>
        </p:txBody>
      </p:sp>
    </p:spTree>
    <p:extLst>
      <p:ext uri="{BB962C8B-B14F-4D97-AF65-F5344CB8AC3E}">
        <p14:creationId xmlns:p14="http://schemas.microsoft.com/office/powerpoint/2010/main" val="3797755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461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Tema di Office</vt:lpstr>
      <vt:lpstr>Identifying Alzheimer’s Disease through brain volumes longitudinal data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Zanetti</dc:creator>
  <cp:lastModifiedBy>Matteo Zanetti</cp:lastModifiedBy>
  <cp:revision>1</cp:revision>
  <dcterms:created xsi:type="dcterms:W3CDTF">2026-02-15T23:02:29Z</dcterms:created>
  <dcterms:modified xsi:type="dcterms:W3CDTF">2026-02-16T00:22:41Z</dcterms:modified>
</cp:coreProperties>
</file>